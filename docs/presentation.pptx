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2F3F4"/>
                </a:solidFill>
                <a:latin typeface="Calibri"/>
              </a:defRPr>
            </a:pPr>
            <a:r>
              <a:t>Conception et Developpement d'un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CRM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2F3F4"/>
                </a:solidFill>
                <a:latin typeface="Calibri"/>
              </a:defRPr>
            </a:pPr>
            <a:r>
              <a:t>Integrant un Module de Prediction des Ventes</a:t>
            </a:r>
            <a:br/>
            <a:r>
              <a:t>Base sur le Machine Learning pour le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93192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Entreprise : BAT PROJET ENGINEERING  |  Represente par Mr. ATALLAH Mohammed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Rezaiguia Soltane Tadj Eddine (DS)    Bellatreche Mohamed Amine (DS)</a:t>
            </a:r>
            <a:br/>
            <a:r>
              <a:t>Khelifi Ayyoub (CS)    Brahim Soheib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3F4"/>
                </a:solidFill>
                <a:latin typeface="Calibri"/>
              </a:defRPr>
            </a:pPr>
            <a:r>
              <a:t>Encadre par : Dr. Khellat Souad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Projet de Fin d'Etudes  |  Specialite : Data Science  |  Annee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Plan de la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9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4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E-commerce COD en Algerie, defis, objectifs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Architecture du Systeme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5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Architecture globale, base de donnees, microservices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4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Integration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2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Flux IA, pipeline ML, cycle de vie commande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26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Modeles de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0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Risk scoring, segmentation, prevision demande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03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Resultats et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8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Comparaison des modeles, metriques, interpretation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80644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81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Demonstration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606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Endpoints, exemples de requetes/reponses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4389120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Le modele COD en Algerie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90%+ des transactions en Cash-on-Delivery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58 wilayas, 3 zones d'expedition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Monnaie : Dinar Algerien (DZD)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Population jeune et connectee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Problematique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30-50% des commandes echouent (retour, refus, absence)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Couts de transport aller-retour sans recette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Confirmations telephoniques manuelles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Aucune capacite predictive dans les CRM actuels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Objectif : Integrer le Machine Learning dans le CRM pour transformer les donnees en decisions actionnables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Architecture Globale du Systeme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global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Schema Relationnel de la Base de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12 tables  |  Architecture multi-tenant (store_id)  |  MySQL 8.0  |  UTF8MB4</a:t>
            </a:r>
          </a:p>
        </p:txBody>
      </p:sp>
      <p:pic>
        <p:nvPicPr>
          <p:cNvPr id="6" name="Picture 5" descr="schema_base_donnee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Integration IA dans le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_integrat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Pipeline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pipelin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Cycle de Vie d'une Commande COD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ycle_vie_command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Prediction du Risque de Livraison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Classification binaire : predire si une commande sera livree (y=1) ou echouera (y=0)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68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86C1"/>
                </a:solidFill>
                <a:latin typeface="Calibri"/>
              </a:defRPr>
            </a:pPr>
            <a:r>
              <a:t>Temporelles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68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68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Heure, jour, mois, jours feries/weekend, trimestre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196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Valeur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196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96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Montant, sous-total, frais,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224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224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224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Recurrence, nb commandes, panier moyen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252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Paiement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252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252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Boleto/COD, CB, debit, voucher, mensualites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280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Qualite/Geo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280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12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280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Photos, desc., volume, poids, region, vendeur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Ensemble par vote pondere (Soft Voting) de 3 modeles 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68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CatBoost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80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Gestion native des</a:t>
            </a:r>
            <a:br/>
            <a:r>
              <a:t>variables categorielles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19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0719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0719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GOSS + EFB</a:t>
            </a:r>
            <a:br/>
            <a:r>
              <a:t>Croissance leaf-wise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8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9758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9758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Regularisation L1/L2</a:t>
            </a:r>
            <a:br/>
            <a:r>
              <a:t>Optimisation Newton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Resultats : Comparaison des Modeles de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Test : 19 543 echantillons (80/20 split stratifie)  |  31 features  |  ADASYN + Optuna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0116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Rappel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560320"/>
            <a:ext cx="20116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8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CatBoost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0175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055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5128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3931920"/>
            <a:ext cx="20116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39700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0.9961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256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Matrice de Confusion (Ensemble)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521208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2651760" y="521208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Predit: Echouee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521208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805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Predit: Livree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Reel: Echouee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51760" y="5623560"/>
            <a:ext cx="1828800" cy="41148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517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242 (VN)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5623560"/>
            <a:ext cx="1828800" cy="41148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5 (FP)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603504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Reel: Livree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51760" y="6035040"/>
            <a:ext cx="1828800" cy="41148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0 (FN)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6035040"/>
            <a:ext cx="1828800" cy="41148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19 296 (VP)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4846320"/>
            <a:ext cx="5029200" cy="13716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Points cles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53035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AUC-ROC : 0.9961 (31 features, ADASYN, Optuna)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Rappel echecs : 98% | Precision : 100% | F1 = 0.99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Seuil ensemble : 0.9805 (Youden's J statistic)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Seuils individuels : F1-max par modele (precision_recall_curve)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Segmentation Client (Hybride HDBSCAN / KMeans)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Analyse RFM + Clustering adaptatif : HDBSCAN (&gt;=1000 clients) ou KMeans avec auto-K (&lt;1000 clients)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3 673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(3.8%)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Haute valeur, achats frequents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21031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(0.3%)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Clients reguliers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  <a:latin typeface="Calibri"/>
              </a:defRPr>
            </a:pPr>
            <a:r>
              <a:t>2 736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(2.8%)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Declin d'activite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286000"/>
            <a:ext cx="21031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Perdu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441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(0.5%)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Inactifs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2286000"/>
            <a:ext cx="2103120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F8C8D"/>
                </a:solidFill>
                <a:latin typeface="Calibri"/>
              </a:defRPr>
            </a:pPr>
            <a:r>
              <a:t>88 994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(92.6%)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Clients occasionnels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48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: 96 096 clients (Olist = HDBSCAN) | Petites BDD = KMeans auto-K (silhouette optimisee)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Actions : VIP -&gt; Fidelite &amp; offres exclusives  |  A Risque -&gt; Campagnes de reactivation  |  Standard -&gt; Strategies de conversion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Prevision de la Demande (LightGBM + Calendrier Islamique)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Benchmark de 5 modeles covariants  |  Serie temporelle : CA quotidien DZD sur 714 jours  |  Evaluation out-of-sample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286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MAE (DZD)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103120"/>
            <a:ext cx="2286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RMSE (DZD)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10312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0312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vs MA7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2743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40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Moyenne Mobile (7j)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514600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540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363 075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14600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540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466 570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514600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540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163.9%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514600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540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9864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24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Prophet + Fetes islamiques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89864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2924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376 292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89864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924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447 736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89864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2924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150.6%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289864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924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-3.6%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82696"/>
            <a:ext cx="2743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08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Chronos-T5-Small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3282696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3308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338 231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282696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308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395 363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282696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308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132.9%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282696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308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+6.8%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66744"/>
            <a:ext cx="27432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92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LightGBM + lags + holidays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666744"/>
            <a:ext cx="22860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692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318 741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666744"/>
            <a:ext cx="22860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3692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416 501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666744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3692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148.0%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666744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692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+12.2%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LightGBM + Calendrier Algerien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617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20 features : lags(1,7,14,28), rolling stats, calendrier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Islamiques : Ramadan, Aid el-Fitr, Aid el-Adha, Mawlid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Nationaux : 1er jan, Yennayer, 1er mai, 5 juil, 1er nov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is_weekend = ven-sam + jours feries islamiques + nationaux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Prevision recursive multi-step (pas de fuite)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4 series : global + 3 categories produit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160520"/>
            <a:ext cx="5212080" cy="2377440"/>
          </a:xfrm>
          <a:prstGeom prst="roundRect">
            <a:avLst/>
          </a:prstGeom>
          <a:solidFill>
            <a:srgbClr val="D5E8D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Pourquoi LightGBM 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526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Meilleur MAE : 318 741 DZD (+12.2% vs baseline)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Supporte les covariables (calendrier algerien)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Modeles fondamentaux (Chronos, TimesFM, MOIRAI)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= zero-shot sans covariables -&gt; inadaptes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714 jours favorisent LightGBM vs deep learning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API REST : Endpoints du Module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FastAPI (Python) - 15 endpoints - Port 8001  |  PHP Backend - Port 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8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/api/predict/order-risk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/api/predict/order-risk/batch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/api/predict/model-info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201168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5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/api/segment/customers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/api/segment/summary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201168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2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/api/forecast/demand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/api/forecast/categories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20116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2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Reentrainement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/api/v1/ai/retrain (depuis BDD)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/api/retrain/upload-and-train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/api/retrain/restore-defaults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103120"/>
            <a:ext cx="3931920" cy="4114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Calibri"/>
              </a:defRPr>
            </a:pPr>
            <a:r>
              <a:t>Exemple de reponse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5603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onsolas"/>
              </a:defRPr>
            </a:pPr>
            <a:r>
              <a:t>{</a:t>
            </a:r>
            <a:br/>
            <a:r>
              <a:t>  "score": 67.9,</a:t>
            </a:r>
            <a:br/>
            <a:r>
              <a:t>  "category": "medium",</a:t>
            </a:r>
            <a:br/>
            <a:r>
              <a:t>  "success_probability": 0.68,</a:t>
            </a:r>
            <a:br/>
            <a:r>
              <a:t>  "reasons": [</a:t>
            </a:r>
            <a:br/>
            <a:r>
              <a:t>    "Region: low success",</a:t>
            </a:r>
            <a:br/>
            <a:r>
              <a:t>    "Category: high return"</a:t>
            </a:r>
            <a:br/>
            <a:r>
              <a:t>  ],</a:t>
            </a:r>
            <a:br/>
            <a:r>
              <a:t>  "recommendation":</a:t>
            </a:r>
            <a:br/>
            <a:r>
              <a:t>    "Monitor closely",</a:t>
            </a:r>
            <a:br/>
            <a:r>
              <a:t>  "model_scores": {</a:t>
            </a:r>
            <a:br/>
            <a:r>
              <a:t>    "catboost": 92.1,</a:t>
            </a:r>
            <a:br/>
            <a:r>
              <a:t>    "lightgbm": 12.7,</a:t>
            </a:r>
            <a:br/>
            <a:r>
              <a:t>    "xgboost": 99.0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Reentrainement et Mise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Pipeline de reentrainement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1. Clic sur 'Reentrainer depuis la base de donnees'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2. Extraction automatique des commandes (PHP -&gt; CSV)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3. Backup automatique des modeles actuels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4. Optimisation Optuna (40 essais bayesiens)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5. Entrainement des 3 modeles (params optimises)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6. Sauvegarde metriques + parametres optimaux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7. Rechargement automatique dans le service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8. Rollback possible via restore-defaults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Modeles et metriques sauvegardes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risk_ensemble.joblib (7.6 MB) - Ensemble CatBoost+LightGBM+XGBoost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segmenter.joblib (9.7 MB) - HDBSCAN ou KMeans (adaptatif)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forecaster_lgbm.joblib (1.8 MB) - LightGBM + calendrier islamique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metrics.json (4 KB) - Toutes les metriques d'evaluation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2 methodes de reentrainement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Methode 1 (recommandee) : depuis la base de donnees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  -&gt; POST /api/v1/ai/retrain (un clic, automatique)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Methode 2 : upload CSV personnalise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  -&gt; POST /api/retrain/upload-and-train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Optuna auto-optimise les hyperparametres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CRM complet : 12 tables, 11 modules, multi-tenant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Ensemble ML (CatBoost+LightGBM+XGBoost + ADASYN + Optuna) : AUC = 0.9961, Rappel(echecs) = 98%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31 features enrichies (8 categories), seuils F1-max par modele + Youden (ensemble)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Segmentation hybride : HDBSCAN (gros volumes) / KMeans (petits volumes), RFM auto-etiquete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Prevision LightGBM + Calendrier algerien (islamique + national) : MAE 318K DZD (+12.2% vs baseline)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Reentrainement automatique depuis la BDD + Optuna auto-tuning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Interface multilingue complete (AR/FR/EN + RTL) + integration LLM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Deploiement sur donnees reelles algeriennes (un clic)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Calendrier algerien complet integre (islamique + national)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Apprentissage en ligne (mise a jour continue)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A/B testing de l'impact des recommandations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5212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60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2F3F4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